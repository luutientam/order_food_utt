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9" r:id="rId9"/>
    <p:sldId id="258" r:id="rId8"/>
    <p:sldId id="271" r:id="rId24"/>
    <p:sldId id="260" r:id="rId10"/>
    <p:sldId id="261" r:id="rId11"/>
    <p:sldId id="273" r:id="rId26"/>
    <p:sldId id="263" r:id="rId13"/>
    <p:sldId id="262" r:id="rId12"/>
    <p:sldId id="274" r:id="rId27"/>
    <p:sldId id="272" r:id="rId25"/>
    <p:sldId id="264" r:id="rId14"/>
    <p:sldId id="265" r:id="rId15"/>
    <p:sldId id="266" r:id="rId16"/>
    <p:sldId id="267" r:id="rId17"/>
    <p:sldId id="269" r:id="rId19"/>
    <p:sldId id="270" r:id="rId20"/>
  </p:sldIdLst>
  <p:sldSz cx="18288000" cy="10287000"/>
  <p:notesSz cx="6858000" cy="9144000"/>
  <p:embeddedFontLst>
    <p:embeddedFont>
      <p:font typeface="Inter Bold" charset="1" panose="02000503000000020004"/>
      <p:regular r:id="rId21"/>
    </p:embeddedFont>
    <p:embeddedFont>
      <p:font typeface="Inter" charset="1" panose="02000503000000020004"/>
      <p:regular r:id="rId22"/>
    </p:embeddedFont>
    <p:embeddedFont>
      <p:font typeface="Inter Italics" charset="1" panose="0200050300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1522880"/>
          </a:xfrm>
          <a:custGeom>
            <a:avLst/>
            <a:gdLst/>
            <a:ahLst/>
            <a:cxnLst/>
            <a:rect r="r" b="b" t="t" l="l"/>
            <a:pathLst>
              <a:path h="11522880" w="18288000">
                <a:moveTo>
                  <a:pt x="0" y="0"/>
                </a:moveTo>
                <a:lnTo>
                  <a:pt x="18288000" y="0"/>
                </a:lnTo>
                <a:lnTo>
                  <a:pt x="18288000" y="11522880"/>
                </a:lnTo>
                <a:lnTo>
                  <a:pt x="0" y="11522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06" t="0" r="-600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6166" y="3167467"/>
            <a:ext cx="13984806" cy="1924681"/>
          </a:xfrm>
          <a:custGeom>
            <a:avLst/>
            <a:gdLst/>
            <a:ahLst/>
            <a:cxnLst/>
            <a:rect r="r" b="b" t="t" l="l"/>
            <a:pathLst>
              <a:path h="1924681" w="13984806">
                <a:moveTo>
                  <a:pt x="0" y="0"/>
                </a:moveTo>
                <a:lnTo>
                  <a:pt x="13984806" y="0"/>
                </a:lnTo>
                <a:lnTo>
                  <a:pt x="13984806" y="1924680"/>
                </a:lnTo>
                <a:lnTo>
                  <a:pt x="0" y="1924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426" r="0" b="-254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23593" y="6059551"/>
            <a:ext cx="9270545" cy="1924681"/>
          </a:xfrm>
          <a:custGeom>
            <a:avLst/>
            <a:gdLst/>
            <a:ahLst/>
            <a:cxnLst/>
            <a:rect r="r" b="b" t="t" l="l"/>
            <a:pathLst>
              <a:path h="1924681" w="9270545">
                <a:moveTo>
                  <a:pt x="0" y="0"/>
                </a:moveTo>
                <a:lnTo>
                  <a:pt x="9270545" y="0"/>
                </a:lnTo>
                <a:lnTo>
                  <a:pt x="9270545" y="1924680"/>
                </a:lnTo>
                <a:lnTo>
                  <a:pt x="0" y="1924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4012" y="2527493"/>
            <a:ext cx="7409706" cy="8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ĐỒ ÁN TỐT NGHIỆP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8359" y="3929738"/>
            <a:ext cx="13591281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THIẾT KẾ VÀ PHÁT TRIỂN ỨNG DỤNG ĐẶT ĐỒ ĂN TRỰC TUYẾN TRÊN NỀN TẢNG ANDROID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5098" y="5922368"/>
            <a:ext cx="849883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Sinh viên: Lưu Tiến Tâm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Mã sinh viên: 73DCHT22133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Lớp: 73DCHT23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Giảng viên hướng dẫn: ThS. Hoàng Thị Kim Ngân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3005" y="8819515"/>
            <a:ext cx="548198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Hà Nội, ngày 14 tháng 6 năm 2026</a:t>
            </a:r>
            <a:r>
              <a:rPr lang="en-US" sz="25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3272" y="385072"/>
            <a:ext cx="696456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Nội dung báo cáo</a:t>
            </a:r>
          </a:p>
        </p:txBody>
      </p:sp>
      <p:sp>
        <p:nvSpPr>
          <p:cNvPr name="TextBox 4" id="91"/>
          <p:cNvSpPr txBox="true"/>
          <p:nvPr/>
        </p:nvSpPr>
        <p:spPr>
          <a:xfrm rot="0">
            <a:off x="2144000" y="2300000"/>
            <a:ext cx="14000000" cy="52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Báo cáo trình bày theo bố cục 4 chương: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Chương 1: Tổng quan đề tài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Chương 2: Cơ sở lý thuyết và công nghệ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Chương 3: Phân tích và thiết kế hệ thống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Chương 4: Xây dựng chương trình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Kết luận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3550" y="349249"/>
            <a:ext cx="71589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1 – Mục tiêu và phạm vi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899642"/>
            <a:ext cx="950401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Mục tiêu &amp; phạm vi: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Xây dựng ứng dụng đặt đồ ăn Android cho 3 vai trò: Khách hàng, Shipper, Quản trị viên.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đặt món, thanh toán, theo dõi đơn realtime và đánh giá.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trị vận hành: quản lý dữ liệu, báo cáo doanh thu – thống kê.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Phạm vi: chỉ phát triển bản Android (API 24+), chưa làm iOS/Web.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Thanh toán COD và giả lập; chưa tích hợp cổng thanh toán thật.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2276" y="5625114"/>
            <a:ext cx="3879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Sơ đồ tổng quan hệ thống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02195" y="349249"/>
            <a:ext cx="480164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1 – Lý do chọn đề tài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688781"/>
            <a:ext cx="10270629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Vấn đề thự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 tế: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Nhu cầu đặt đồ ăn trực tuyến ngày càng tăng mạnh.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Quán ăn nhỏ khó tiếp cận các nền tảng giao đồ ăn lớn (phí cao).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Khách hàng khó theo dõi trạng thái đơn hàng theo thời gian thực.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Cần ứng dụng gọn nhẹ, đồng bộ dữ liệu tức thời giữa các vai trò.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Firebase giúp xây dựng hệ thống realtime nhanh, chi phí thấp.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35906" y="5625114"/>
            <a:ext cx="705209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Đặt đồ ăn trực tuyến qua ứng dụng di động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29690" y="349249"/>
            <a:ext cx="534665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2 – Công nghệ sử dụng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79601" y="3140627"/>
            <a:ext cx="5909072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Nền tảng: Android (API 24 trở lên)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Ngôn ngữ: Kotlin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Kiến trúc: MVVM (View – ViewModel – Repository)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Backend: Firebase (Authentication, Realtime Database, Storage)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Xác thực: Firebase Authentication (Email/Password + Google)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Thư viện: Glide (ảnh), Room (giỏ hàng offline)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Giao diện: Material Design 3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Thiết kế UML: StarUML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40282" y="5095875"/>
            <a:ext cx="100235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go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5012" y="349249"/>
            <a:ext cx="995600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3 – Yêu cầu hệ thống &amp; tác nhân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223" y="2252662"/>
            <a:ext cx="6118103" cy="573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Đối tượng sử d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ụng: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Khách hàng</a:t>
            </a:r>
          </a:p>
          <a:p>
            <a:pPr algn="l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Đăng ký, đăng nhập (Email/Google)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Duyệt nhà hàng, món ăn; thêm giỏ hàng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Đặt hàng, áp voucher, thanh toán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Theo dõi đơn hàng theo thời gian thực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Đánh giá món ăn, quản lý sổ địa chỉ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Shipper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Nhận đơn từ danh sách đơn mới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Cập nhật trạng thái giao hàng realtime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Xem thu nhập theo ngày/tháng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99606" y="6438437"/>
            <a:ext cx="112469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Biểu đồ Use Case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5231" y="1760502"/>
            <a:ext cx="7656314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trị viên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người dùng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nhà hàng, danh mục, món ăn, khuyến mại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lý đơn hàng, phản hồi; báo cáo doanh thu – thống kê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4747" y="349249"/>
            <a:ext cx="371653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3 – Thiết kế cơ sở dữ liệu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38475"/>
            <a:ext cx="6128891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nhóm dữ liệu chính (9 node Firebase)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users – Người dùng và phân quyền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restaurants – Nhà hàng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categories, food – Danh mục và món ăn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booking – Đơn hàng và thanh toán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promotions – Khuyến mại, voucher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addresses – Sổ địa chỉ giao hàng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reviews, feedback – Đánh giá và phản hồi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45022" y="5625114"/>
            <a:ext cx="303386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Sơ đồ cấu trúc dữ liệu Firebase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9797" y="349249"/>
            <a:ext cx="458643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3 – Biểu đồ trình tự: luồng đặt &amp; giao đơn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4819" y="2899642"/>
            <a:ext cx="8962281" cy="573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Luồng xử lý đơn hàng realtime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Khách hàng đặt đơn, dữ liệu được lưu lên Firebase.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Shipper nhận đơn qua Firebase Transaction (tránh tranh chấp).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Shipper cập nhật trạng thái trong quá trình giao.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Firebase đồng bộ trạng thái tới mọi vai trò tức thời.</a:t>
            </a:r>
          </a:p>
          <a:p>
            <a:pPr algn="l" marL="647697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Khách hàng và quản trị viên theo dõi đơn không cần làm mới.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 trạng thái đơn hàng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0 - Mới đặt   |   1 - Đang chuẩn bị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2 - Đang giao   |   3 - Thành công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4 - Đã huỷ   |   5 - Thất bại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Lưu lịch sử đơn phục vụ tra cứu và thống kê.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50442" y="5293760"/>
            <a:ext cx="41109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Sơ đồ luồng theo dõi đơn hàng realtime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864" y="349249"/>
            <a:ext cx="799430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4 – Thiết kế giao diện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048" y="1860396"/>
            <a:ext cx="52597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 q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uả giao diện/chức năng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4580" y="6030844"/>
            <a:ext cx="499883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Giao diện đăng nhập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864" y="349249"/>
            <a:ext cx="799430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4 – Thiết kế giao diện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048" y="1860396"/>
            <a:ext cx="52597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 q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uả giao diện/chức năng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21933" y="6030844"/>
            <a:ext cx="6644134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Giao diện đặt món / giỏ hàng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864" y="349249"/>
            <a:ext cx="799430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4 – Thiết kế giao diện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048" y="1860396"/>
            <a:ext cx="525973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Kế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 q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uả giao diện/chức năng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73081" y="6663428"/>
            <a:ext cx="494183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Giao diện theo dõi đơn hàng realtime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95940" y="4425949"/>
            <a:ext cx="22961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DEMO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95598" y="349249"/>
            <a:ext cx="2014835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Kết luận và hướng phát triển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71258"/>
            <a:ext cx="9208889" cy="67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Kết quả đạt đượ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Xây dựng ứng dụng đặt đồ ăn trên Android (Kotlin, MVVM).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/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Hoàn thành các chức năng đặt món, thanh toán, đánh giá.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Theo dõi trạng thái đơn hàng theo thời gian thực.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Xây dựng phân hệ Quản trị viên và Shipper.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Hỗ trợ báo cáo doanh thu và thống kê vận hành.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Hướng phát triển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Phát triển bản iOS và phiên bản Web.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Tích hợp cổng thanh toán thật (VNPay, MoMo, ZaloPay).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Tích hợp thông báo đẩy (FCM) và chatbot AI hỗ trợ.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Bổ sung bản đồ định vị shipper, tối ưu lộ trình giao hàng.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Tăng cường kiểm thử hiệu năng và bảo mật.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99128" y="4648200"/>
            <a:ext cx="349552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roadmap</a:t>
            </a: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phát triển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0106" y="3750069"/>
            <a:ext cx="8276927" cy="239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XIN CHÂN THÀNH CẢM ƠN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QUÝ THẦY CÔ VÀ HỘI ĐỒNG</a:t>
            </a:r>
          </a:p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ĐÃ LẮNG NGHE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3550" y="349249"/>
            <a:ext cx="71589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2 – Cơ sở lý thuyết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899642"/>
            <a:ext cx="950401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khái niệm cốt lõi: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Mô hình Client – Server cho ứng dụng di động.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Kiến trúc MVVM (View – ViewModel – Repository).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Cơ sở dữ liệu thời gian thực NoSQL (Firebase Realtime Database).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Xác thực &amp; phân quyền: Authentication và Security Rules.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Đồng bộ realtime và cơ chế Transaction chống tranh chấp.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2276" y="5625114"/>
            <a:ext cx="3879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Minh hoạ kiến trúc tổng quan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3550" y="349249"/>
            <a:ext cx="71589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3 – Thuật toán xử lý nghiệp vụ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899642"/>
            <a:ext cx="950401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Các xử lý tính toán chính: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Tổng tiền đơn = Σ(giá món × số lượng) + phí giao – giảm giá.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Voucher: giảm theo % hoặc số tiền, kiểm tra điều kiện đơn tối thiểu.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Doanh thu/thống kê: tổng giá trị đơn thành công theo ngày/tháng/năm.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Phân đơn cho shipper: Firebase Transaction – mỗi đơn chỉ 1 shipper nhận.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Thu nhập shipper = tổng phí giao của các đơn giao thành công.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2276" y="5625114"/>
            <a:ext cx="3879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Công thức / minh hoạ thuật toán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3550" y="349249"/>
            <a:ext cx="71589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3 – Biểu đồ Use Case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899642"/>
            <a:ext cx="950401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Biểu đồ Use Case tổng quát: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 tác nhân: Khách hàng, Shipper, Quản trị viên.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Khách hàng: đăng nhập, đặt món, thanh toán, theo dõi đơn, đánh giá.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Shipper: nhận đơn, cập nhật trạng thái, xem thu nhập.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Quản trị viên: quản lý dữ liệu, đơn hàng, khuyến mại, báo cáo.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case trọng tâm: Đặt hàng &amp; Theo dõi đơn realtime.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2276" y="5625114"/>
            <a:ext cx="3879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Biểu đồ Use Case tổng quát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3550" y="349249"/>
            <a:ext cx="71589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Chương 3 – Kiến trúc hệ thống</a:t>
            </a:r>
            <a:r>
              <a:rPr lang="en-US" b="true" sz="3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294" y="2899642"/>
            <a:ext cx="9504015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Kiến trúc tổng thể: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Ứng dụng Android (Kotlin, MVVM) ở phía client.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Firebase đóng vai trò backend: Auth, Realtime DB, Storage.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Repository làm trung gian giữa ViewModel và Firebase.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Room lưu giỏ hàng offline; Glide tải ảnh từ Storage.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Security Rules phân quyền theo vai trò customer/shipper/admin.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2276" y="5625114"/>
            <a:ext cx="3879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Sơ đồ kiến trúc hệ thống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DAHLrAZvY_Q</dc:identifier>
  <dcterms:modified xsi:type="dcterms:W3CDTF">2011-08-01T06:04:30Z</dcterms:modified>
  <cp:revision>1</cp:revision>
  <dc:title>Khóa luận tốt nghiệp</dc:title>
</cp:coreProperties>
</file>