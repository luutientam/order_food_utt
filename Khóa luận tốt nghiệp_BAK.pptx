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nter Bold" charset="1" panose="02000503000000020004"/>
      <p:regular r:id="rId21"/>
    </p:embeddedFont>
    <p:embeddedFont>
      <p:font typeface="Inter" charset="1" panose="02000503000000020004"/>
      <p:regular r:id="rId22"/>
    </p:embeddedFont>
    <p:embeddedFont>
      <p:font typeface="Inter Italics" charset="1" panose="0200050300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1522880"/>
          </a:xfrm>
          <a:custGeom>
            <a:avLst/>
            <a:gdLst/>
            <a:ahLst/>
            <a:cxnLst/>
            <a:rect r="r" b="b" t="t" l="l"/>
            <a:pathLst>
              <a:path h="11522880" w="18288000">
                <a:moveTo>
                  <a:pt x="0" y="0"/>
                </a:moveTo>
                <a:lnTo>
                  <a:pt x="18288000" y="0"/>
                </a:lnTo>
                <a:lnTo>
                  <a:pt x="18288000" y="11522880"/>
                </a:lnTo>
                <a:lnTo>
                  <a:pt x="0" y="11522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06" t="0" r="-600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46166" y="3167467"/>
            <a:ext cx="13984806" cy="1924681"/>
          </a:xfrm>
          <a:custGeom>
            <a:avLst/>
            <a:gdLst/>
            <a:ahLst/>
            <a:cxnLst/>
            <a:rect r="r" b="b" t="t" l="l"/>
            <a:pathLst>
              <a:path h="1924681" w="13984806">
                <a:moveTo>
                  <a:pt x="0" y="0"/>
                </a:moveTo>
                <a:lnTo>
                  <a:pt x="13984806" y="0"/>
                </a:lnTo>
                <a:lnTo>
                  <a:pt x="13984806" y="1924680"/>
                </a:lnTo>
                <a:lnTo>
                  <a:pt x="0" y="1924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426" r="0" b="-2542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23593" y="6059551"/>
            <a:ext cx="9270545" cy="1924681"/>
          </a:xfrm>
          <a:custGeom>
            <a:avLst/>
            <a:gdLst/>
            <a:ahLst/>
            <a:cxnLst/>
            <a:rect r="r" b="b" t="t" l="l"/>
            <a:pathLst>
              <a:path h="1924681" w="9270545">
                <a:moveTo>
                  <a:pt x="0" y="0"/>
                </a:moveTo>
                <a:lnTo>
                  <a:pt x="9270545" y="0"/>
                </a:lnTo>
                <a:lnTo>
                  <a:pt x="9270545" y="1924680"/>
                </a:lnTo>
                <a:lnTo>
                  <a:pt x="0" y="19246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54012" y="2527493"/>
            <a:ext cx="7409706" cy="82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KHÓA LUẬN TỐT NGHIỆP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48359" y="3929738"/>
            <a:ext cx="13591281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XÂY DỰNG HỆ THỐNG WEB QUẢN LÝ HỌC TẬP TÍCH HỢP PHÂN TÍCH TIẾN ĐỘ HỌC TẬP VÀ HỖ TRỢ HỌC TẬP THÔNG MINH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45098" y="5922368"/>
            <a:ext cx="8498830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Sinh viên: Nguyễn Tất Thắng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Mã sinh viên: 73DCHT22158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Lớp: 73DCHT23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Giáo viên hướng dẫn : ThS. Nguyễn Văn Cường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03005" y="8819515"/>
            <a:ext cx="548198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Hà nội, </a:t>
            </a:r>
            <a:r>
              <a:rPr lang="en-US" sz="25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ngày 14 tháng 6 năm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73272" y="385072"/>
            <a:ext cx="696456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Giới thiệu các phần trình bày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23550" y="349249"/>
            <a:ext cx="715893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1. 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Mục tiêu và kết quả dự kiến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5294" y="2899642"/>
            <a:ext cx="9504015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Mục tiêu đề tài: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Xây dựng hệ thống LMS trên nền tảng Web.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Quản lý khóa học, bài học, bài tập, bài kiểm tra.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Hỗ trợ học viên học trực tuyến và theo dõi tiến độ.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Tích hợp chatbot AI hỗ trợ học tập.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Hỗ trợ thanh toán khóa học và quản lý doanh thu.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22276" y="5625114"/>
            <a:ext cx="387935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Sơ đồ tổng quan LMS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02195" y="349249"/>
            <a:ext cx="4801642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2. 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Lý do chọn đề tài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5294" y="2688781"/>
            <a:ext cx="10270629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Vấn đề thự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 tế: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Nhu cầu học tập trực tuyến ngà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 càng tăng.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Nhiều hệ thống chỉ tập trung quản lý tài liệu, khóa học.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Khó theo dõi tiến độ học tập của từng học viên.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Người học thiếu công cụ hỗ trợ khi tự học.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 có thể hỗ trợ tra cứu và giải đáp nhanh hơn.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35906" y="5625114"/>
            <a:ext cx="705209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Học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trực tuyến / sinh viên học qua laptop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575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29690" y="349249"/>
            <a:ext cx="534665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3. Công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nghệ áp dụng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79601" y="3140627"/>
            <a:ext cx="5909072" cy="416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Fron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tend: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ReactJS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Backend: Spring Boot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Database: MySQL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Giao tiếp: RESTful API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Xác thực: JWT Authentication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AI: OpenAI API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Thiết kế UML: StarUML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Kiểm thử API: Postman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40282" y="5095875"/>
            <a:ext cx="100235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go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25012" y="349249"/>
            <a:ext cx="9956006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4. Đối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tượng sử dụng và chức năng chính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5223" y="2252662"/>
            <a:ext cx="6118103" cy="573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Đối tượng sử d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ụng: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Học viên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Đăng ký, đăng nhập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Đă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ng ký/thanh toán khóa học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Học bài, làm bài kiểm tra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Theo dõi tiến độ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Sử dụng chatbot AI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Giảng viên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Quản lý khóa học, bài học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Quản lý bài tập, bài kiểm tra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Theo dõi kết quả học viên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99606" y="6438437"/>
            <a:ext cx="112469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Sơ đồ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45231" y="1760502"/>
            <a:ext cx="7656314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Quản trị viên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Quản lý người dùng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Quản lý dữ liệu hệ thống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Theo dõi giao dịch, doanh thu, thống kê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44747" y="349249"/>
            <a:ext cx="3716536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5. Cơ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sở dữ liệu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38475"/>
            <a:ext cx="6128891" cy="416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Cá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 nhóm dữ liệu chính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Người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dùng và phân quyền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Khóa học, chương học, bài học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Tài nguyên học tập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Đăng ký khóa học, thanh toán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Bài tập, bài kiểm tra, kết quả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Tiến độ học tập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Hội thoại chatbot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45022" y="5625114"/>
            <a:ext cx="303386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Hì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nh CSDL / ERD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09797" y="349249"/>
            <a:ext cx="4586436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6. AI hỗ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trợ học tập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4819" y="2899642"/>
            <a:ext cx="8962281" cy="573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uồng xử lý chatbot AI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Học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viên nhập câu hỏi.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Frontend gửi yêu cầu đến backend.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Backend xử lý và gửi nội dung đến OpenAI API.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 trả phản hồi về backend.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Hệ thống hiển thị câu trả lời cho học viên.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Chức năng AI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Hỏi đáp nội dung học tập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 cứu thông tin khóa học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Hỗ trợ giải thích kiến thức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Tăng tương tác khi học trực tuyến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50442" y="5293760"/>
            <a:ext cx="411093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Lu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ồng xử lý chatbot AI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05864" y="349249"/>
            <a:ext cx="799430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7. K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ết quả xây dựng chương trình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5048" y="1860396"/>
            <a:ext cx="525973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Kế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 q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uả giao diện/chức năng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44580" y="6030844"/>
            <a:ext cx="4998839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Giao diện đăng nhập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05864" y="349249"/>
            <a:ext cx="799430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7. K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ết quả xây dựng chương trình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5048" y="1860396"/>
            <a:ext cx="525973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Kế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 q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uả giao diện/chức năng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21933" y="6030844"/>
            <a:ext cx="6644134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Giao diện học bài trực tuyến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05864" y="349249"/>
            <a:ext cx="799430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7. K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ết quả xây dựng chương trình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5048" y="1860396"/>
            <a:ext cx="525973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Kế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 q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uả giao diện/chức năng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73081" y="6663428"/>
            <a:ext cx="4941838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Giao diện chatbot AI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95940" y="4425949"/>
            <a:ext cx="22961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DEMO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34304" y="349249"/>
            <a:ext cx="4137422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ết quả kiểm thử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5294" y="2899642"/>
            <a:ext cx="8740229" cy="468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Cá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 nhóm kiểm thử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Kiểm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thử đăng ký, đăng nhập, phân quyền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Kiểm thử quản lý khóa học, bài học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Kiểm thử đăng ký/thanh toán khóa học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Kiểm thử học bài, làm bài kiểm tra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Kiểm thử theo dõi tiến độ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Kiểm thử chatbot AI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Kiểm thử xử lý lỗi cơ bản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Kết quả: Các chức năng chính hoạt động ổn định.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52099" y="4648200"/>
            <a:ext cx="238958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Bảng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kết quả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95598" y="349249"/>
            <a:ext cx="2014835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ết luận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71258"/>
            <a:ext cx="9208889" cy="678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Kết quả đạt đượ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Xây dựng hệ thống LMS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trên nền tảng Web.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Hoàn thành các chức năng học tập trực tuyến.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Hỗ trợ theo dõi tiến độ học tập.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Tích hợp chatbot AI hỗ trợ học viên.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Hỗ trợ thanh toán và quản lý doanh thu.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Hướng phát triển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Phát triển ứng dụng mobile.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Nâng cấp phân tích tiến độ học tập.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Cải thiện chatbot AI theo nội dung khóa học.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Bổ sung lớp học trực tuyến, diễn đàn, chứng chỉ.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Tăng cường kiểm thử hiệu năng và bảo mật.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999128" y="4648200"/>
            <a:ext cx="349552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roadmap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phát triển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00106" y="3750069"/>
            <a:ext cx="8276927" cy="239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XIN CHÂN THÀNH CẢM ƠN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QUÝ THẦY CÔ VÀ HỘI ĐỒNG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ĐÃ LẮNG NGHE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DAHLrAZvY_Q</dc:identifier>
  <dcterms:modified xsi:type="dcterms:W3CDTF">2011-08-01T06:04:30Z</dcterms:modified>
  <cp:revision>1</cp:revision>
  <dc:title>Khóa luận tốt nghiệp</dc:title>
</cp:coreProperties>
</file>